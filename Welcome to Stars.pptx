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7" r:id="rId3"/>
    <p:sldId id="278" r:id="rId4"/>
    <p:sldId id="280" r:id="rId5"/>
    <p:sldId id="281" r:id="rId6"/>
    <p:sldId id="282" r:id="rId7"/>
    <p:sldId id="271" r:id="rId8"/>
    <p:sldId id="276" r:id="rId9"/>
    <p:sldId id="279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7"/>
            <p14:sldId id="278"/>
            <p14:sldId id="280"/>
            <p14:sldId id="281"/>
            <p14:sldId id="282"/>
          </p14:sldIdLst>
        </p14:section>
        <p14:section name="Design, Annotate, Work Together, Tell Me" id="{B9B51309-D148-4332-87C2-07BE32FBCA3B}">
          <p14:sldIdLst>
            <p14:sldId id="271"/>
            <p14:sldId id="276"/>
            <p14:sldId id="279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 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9B45"/>
    <a:srgbClr val="DD462F"/>
    <a:srgbClr val="F8CFB6"/>
    <a:srgbClr val="F8CAB6"/>
    <a:srgbClr val="923922"/>
    <a:srgbClr val="404040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7116" autoAdjust="0"/>
  </p:normalViewPr>
  <p:slideViewPr>
    <p:cSldViewPr snapToGrid="0">
      <p:cViewPr>
        <p:scale>
          <a:sx n="100" d="100"/>
          <a:sy n="100" d="100"/>
        </p:scale>
        <p:origin x="72" y="-6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6/22/2019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click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6711" y="443128"/>
            <a:ext cx="4438526" cy="641350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41611" y="1431010"/>
            <a:ext cx="4413626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Lorem ipsum 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6711" y="443128"/>
            <a:ext cx="4438526" cy="641350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/>
          </p:nvPr>
        </p:nvSpPr>
        <p:spPr>
          <a:xfrm>
            <a:off x="6942411" y="1828845"/>
            <a:ext cx="4413626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86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6/22/2019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4434" y="1061482"/>
            <a:ext cx="4350803" cy="0"/>
          </a:xfrm>
          <a:prstGeom prst="line">
            <a:avLst/>
          </a:prstGeom>
          <a:ln w="28575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6711" y="1539506"/>
            <a:ext cx="6267148" cy="641350"/>
          </a:xfrm>
        </p:spPr>
        <p:txBody>
          <a:bodyPr anchor="b">
            <a:normAutofit/>
          </a:bodyPr>
          <a:lstStyle>
            <a:lvl1pPr marL="0" indent="0">
              <a:buNone/>
              <a:defRPr sz="36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41611" y="2560639"/>
            <a:ext cx="9442648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Lorem ipsum 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6/22/2019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38200" y="1164324"/>
            <a:ext cx="10515600" cy="238760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Welcome to Stars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Top most popular actors and credits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out 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41611" y="1578279"/>
            <a:ext cx="6360230" cy="4346532"/>
          </a:xfrm>
        </p:spPr>
        <p:txBody>
          <a:bodyPr>
            <a:normAutofit/>
          </a:bodyPr>
          <a:lstStyle/>
          <a:p>
            <a:r>
              <a:rPr lang="en-US" sz="1800" dirty="0"/>
              <a:t>Most popular actors and movies scraped from IMDB site.</a:t>
            </a:r>
          </a:p>
          <a:p>
            <a:r>
              <a:rPr lang="en-US" sz="1800" dirty="0"/>
              <a:t>Actors - https://www.imdb.com/list/ls022928819/</a:t>
            </a:r>
          </a:p>
          <a:p>
            <a:r>
              <a:rPr lang="en-US" sz="1800" dirty="0"/>
              <a:t>Actresses - https://www.imdb.com/list/ls022928836/</a:t>
            </a:r>
          </a:p>
          <a:p>
            <a:r>
              <a:rPr lang="en-US" sz="1800" dirty="0"/>
              <a:t>Scraped using OMDb API - http://www.omdbapi.com/</a:t>
            </a:r>
          </a:p>
          <a:p>
            <a:r>
              <a:rPr lang="en-US" sz="1800" dirty="0"/>
              <a:t>Data saved to CSV files</a:t>
            </a:r>
          </a:p>
          <a:p>
            <a:r>
              <a:rPr lang="en-US" sz="1800" dirty="0"/>
              <a:t>Data include actor information, actor credits, movie ratings, box office revenue, and genre</a:t>
            </a:r>
          </a:p>
          <a:p>
            <a:r>
              <a:rPr lang="en-US" sz="1800" dirty="0"/>
              <a:t>Actor and Actresses data were combined</a:t>
            </a:r>
          </a:p>
          <a:p>
            <a:r>
              <a:rPr lang="en-US" sz="1800" dirty="0"/>
              <a:t>Data loaded into SQLLite in Actor and Movies entities</a:t>
            </a:r>
          </a:p>
        </p:txBody>
      </p:sp>
    </p:spTree>
    <p:extLst>
      <p:ext uri="{BB962C8B-B14F-4D97-AF65-F5344CB8AC3E}">
        <p14:creationId xmlns:p14="http://schemas.microsoft.com/office/powerpoint/2010/main" val="186129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91714" y="1531218"/>
            <a:ext cx="7725568" cy="4443697"/>
          </a:xfrm>
        </p:spPr>
        <p:txBody>
          <a:bodyPr>
            <a:normAutofit/>
          </a:bodyPr>
          <a:lstStyle/>
          <a:p>
            <a:pPr fontAlgn="base"/>
            <a:r>
              <a:rPr lang="en-US" sz="1800" dirty="0"/>
              <a:t>Who are the top 10 popular actors?</a:t>
            </a:r>
          </a:p>
          <a:p>
            <a:pPr fontAlgn="base"/>
            <a:r>
              <a:rPr lang="en-US" sz="1800" dirty="0"/>
              <a:t>Who are the top 10 popular actresses?</a:t>
            </a:r>
          </a:p>
          <a:p>
            <a:pPr fontAlgn="base"/>
            <a:r>
              <a:rPr lang="en-US" sz="1800" dirty="0"/>
              <a:t>What are the top 10 movies at the box office?</a:t>
            </a:r>
          </a:p>
          <a:p>
            <a:pPr fontAlgn="base"/>
            <a:r>
              <a:rPr lang="en-US" sz="1800" dirty="0"/>
              <a:t>How many movies are made in the US?</a:t>
            </a:r>
          </a:p>
          <a:p>
            <a:pPr fontAlgn="base"/>
            <a:r>
              <a:rPr lang="en-US" sz="1800" dirty="0"/>
              <a:t>How do US movies compare with foreign films in revenue?</a:t>
            </a:r>
          </a:p>
          <a:p>
            <a:pPr fontAlgn="base"/>
            <a:r>
              <a:rPr lang="en-US" sz="1800" dirty="0"/>
              <a:t>Is there a correlation between IMDB Ratings and Box office revenues?</a:t>
            </a:r>
          </a:p>
          <a:p>
            <a:pPr fontAlgn="base"/>
            <a:r>
              <a:rPr lang="en-US" sz="1800" dirty="0"/>
              <a:t>Do IMDB Ratings translate to higher revenues?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9853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91714" y="1531218"/>
            <a:ext cx="7725568" cy="4443697"/>
          </a:xfrm>
        </p:spPr>
        <p:txBody>
          <a:bodyPr>
            <a:normAutofit/>
          </a:bodyPr>
          <a:lstStyle/>
          <a:p>
            <a:pPr fontAlgn="base"/>
            <a:r>
              <a:rPr lang="en-US" sz="1800" dirty="0"/>
              <a:t>15,358 titles found between the year 1937 to 2022.</a:t>
            </a:r>
          </a:p>
          <a:p>
            <a:pPr fontAlgn="base"/>
            <a:r>
              <a:rPr lang="en-US" sz="1800" dirty="0"/>
              <a:t>Titles include project announcements</a:t>
            </a:r>
          </a:p>
          <a:p>
            <a:pPr fontAlgn="base"/>
            <a:r>
              <a:rPr lang="en-US" sz="1800" dirty="0"/>
              <a:t>Titles were of type episode, game, series, and movie.</a:t>
            </a:r>
          </a:p>
          <a:p>
            <a:pPr fontAlgn="base"/>
            <a:r>
              <a:rPr lang="en-US" sz="1800" dirty="0"/>
              <a:t>Among all titles, 12,259 were of movie type.</a:t>
            </a:r>
          </a:p>
          <a:p>
            <a:pPr fontAlgn="base"/>
            <a:r>
              <a:rPr lang="en-US" sz="1800" dirty="0"/>
              <a:t>9889 movies were made in the US.</a:t>
            </a:r>
          </a:p>
          <a:p>
            <a:pPr fontAlgn="base"/>
            <a:r>
              <a:rPr lang="en-US" sz="1800" dirty="0"/>
              <a:t>200 actors in the dataset</a:t>
            </a:r>
          </a:p>
          <a:p>
            <a:pPr fontAlgn="base"/>
            <a:r>
              <a:rPr lang="en-US" sz="1800" dirty="0"/>
              <a:t>Actors took 24 different types of credits</a:t>
            </a:r>
          </a:p>
          <a:p>
            <a:pPr fontAlgn="base"/>
            <a:endParaRPr lang="en-US" sz="1800" dirty="0"/>
          </a:p>
          <a:p>
            <a:pPr fontAlgn="base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267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out our IMDb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917473" y="1531218"/>
            <a:ext cx="5290457" cy="444369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sz="1800" dirty="0"/>
          </a:p>
          <a:p>
            <a:pPr fontAlgn="base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C7C6C-BABE-416A-8A9E-B0FC2D8E5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972" y="1533909"/>
            <a:ext cx="1962150" cy="1524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792C34-071F-4757-900D-941720287DBB}"/>
              </a:ext>
            </a:extLst>
          </p:cNvPr>
          <p:cNvSpPr txBox="1">
            <a:spLocks/>
          </p:cNvSpPr>
          <p:nvPr/>
        </p:nvSpPr>
        <p:spPr>
          <a:xfrm>
            <a:off x="625353" y="1407393"/>
            <a:ext cx="2543360" cy="99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1800" dirty="0"/>
              <a:t>Data from our entities Actor and Movies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1AA082-162E-4494-958E-1537CAE31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473" y="1531218"/>
            <a:ext cx="18097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4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F2166B-262F-48D5-B60E-3765495AF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queries on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5F27F-182C-48B0-A7D9-C61606EA8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11" y="1352550"/>
            <a:ext cx="4257675" cy="1571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3D3D1F-71B2-428A-9A57-0679483BA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4" y="2412206"/>
            <a:ext cx="4448175" cy="1609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80069D-877A-40DC-9DCE-E26B40FD6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0" y="1413272"/>
            <a:ext cx="2495550" cy="1571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60793D-03BA-41B9-96BC-F390C2E59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060" y="3207543"/>
            <a:ext cx="4095750" cy="1628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7B2850-299E-47D0-B755-F7A65D6200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112" y="3652834"/>
            <a:ext cx="38766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5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Check out our dashboard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spcAft>
                <a:spcPts val="2000"/>
              </a:spcAft>
              <a:buNone/>
            </a:pPr>
            <a:endParaRPr lang="en-US" dirty="0"/>
          </a:p>
          <a:p>
            <a:pPr marL="0" indent="0" algn="ctr">
              <a:spcAft>
                <a:spcPts val="2000"/>
              </a:spcAft>
              <a:buNone/>
            </a:pPr>
            <a:endParaRPr lang="en-US" dirty="0"/>
          </a:p>
          <a:p>
            <a:pPr marL="0" indent="0" algn="ctr">
              <a:spcAft>
                <a:spcPts val="2000"/>
              </a:spcAft>
              <a:buNone/>
            </a:pPr>
            <a:endParaRPr lang="en-US" dirty="0"/>
          </a:p>
          <a:p>
            <a:pPr marL="0" indent="0" algn="ctr">
              <a:spcAft>
                <a:spcPts val="2000"/>
              </a:spcAft>
              <a:buNone/>
            </a:pPr>
            <a:r>
              <a:rPr lang="en-US" dirty="0"/>
              <a:t>CHART WILL GO HERE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8723" y="2469763"/>
            <a:ext cx="558179" cy="409838"/>
            <a:chOff x="6953426" y="711274"/>
            <a:chExt cx="558179" cy="409838"/>
          </a:xfrm>
        </p:grpSpPr>
        <p:sp>
          <p:nvSpPr>
            <p:cNvPr id="2" name="Oval 1"/>
            <p:cNvSpPr/>
            <p:nvPr/>
          </p:nvSpPr>
          <p:spPr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/>
            <p:cNvSpPr txBox="1">
              <a:spLocks noChangeAspect="1"/>
            </p:cNvSpPr>
            <p:nvPr/>
          </p:nvSpPr>
          <p:spPr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9" name="Content Placeholder 17"/>
          <p:cNvSpPr txBox="1">
            <a:spLocks/>
          </p:cNvSpPr>
          <p:nvPr/>
        </p:nvSpPr>
        <p:spPr>
          <a:xfrm>
            <a:off x="1066039" y="2509955"/>
            <a:ext cx="3121671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Choose an </a:t>
            </a:r>
            <a:r>
              <a:rPr lang="en-US" sz="18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Actor </a:t>
            </a: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from the </a:t>
            </a:r>
            <a:r>
              <a:rPr lang="en-US" sz="1800" dirty="0">
                <a:solidFill>
                  <a:srgbClr val="D24726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Dropdown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558723" y="3286350"/>
            <a:ext cx="558179" cy="409838"/>
            <a:chOff x="6953426" y="711274"/>
            <a:chExt cx="558179" cy="409838"/>
          </a:xfrm>
        </p:grpSpPr>
        <p:sp>
          <p:nvSpPr>
            <p:cNvPr id="20" name="Oval 19"/>
            <p:cNvSpPr/>
            <p:nvPr/>
          </p:nvSpPr>
          <p:spPr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/>
            <p:cNvSpPr txBox="1">
              <a:spLocks noChangeAspect="1"/>
            </p:cNvSpPr>
            <p:nvPr/>
          </p:nvSpPr>
          <p:spPr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2" name="Content Placeholder 17"/>
          <p:cNvSpPr txBox="1">
            <a:spLocks/>
          </p:cNvSpPr>
          <p:nvPr/>
        </p:nvSpPr>
        <p:spPr>
          <a:xfrm>
            <a:off x="1066039" y="3326542"/>
            <a:ext cx="284181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Total Credits, Box Office Revenue, Average IMDb Score is displayed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296100"/>
            <a:ext cx="5110161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96139-4886-4B33-AB65-0EFAFDE89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755" y="1397726"/>
            <a:ext cx="6832880" cy="26386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1BD4E5-8A4D-4001-909F-CC4ABFB79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755" y="4036423"/>
            <a:ext cx="6832879" cy="263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16710" y="443128"/>
            <a:ext cx="6118005" cy="641350"/>
          </a:xfrm>
        </p:spPr>
        <p:txBody>
          <a:bodyPr>
            <a:normAutofit/>
          </a:bodyPr>
          <a:lstStyle/>
          <a:p>
            <a:r>
              <a:rPr lang="en-US" dirty="0"/>
              <a:t>Explore credit details</a:t>
            </a:r>
          </a:p>
        </p:txBody>
      </p:sp>
      <p:sp>
        <p:nvSpPr>
          <p:cNvPr id="16" name="Content Placeholder 17"/>
          <p:cNvSpPr txBox="1">
            <a:spLocks/>
          </p:cNvSpPr>
          <p:nvPr/>
        </p:nvSpPr>
        <p:spPr>
          <a:xfrm>
            <a:off x="541609" y="1296100"/>
            <a:ext cx="6093106" cy="1236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8D5C8-2982-4C40-835F-A21D02C36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664" y="1616994"/>
            <a:ext cx="7346727" cy="4667250"/>
          </a:xfrm>
          <a:prstGeom prst="rect">
            <a:avLst/>
          </a:prstGeom>
        </p:spPr>
      </p:pic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E6C8CCB3-EE25-4107-9088-1BFF7490ABC3}"/>
              </a:ext>
            </a:extLst>
          </p:cNvPr>
          <p:cNvSpPr txBox="1">
            <a:spLocks/>
          </p:cNvSpPr>
          <p:nvPr/>
        </p:nvSpPr>
        <p:spPr>
          <a:xfrm>
            <a:off x="1028145" y="1747622"/>
            <a:ext cx="2806868" cy="913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Hover over to display credit details in the chart</a:t>
            </a:r>
            <a:endParaRPr lang="en-US" dirty="0">
              <a:solidFill>
                <a:prstClr val="black">
                  <a:lumMod val="75000"/>
                  <a:lumOff val="25000"/>
                </a:prstClr>
              </a:solidFill>
              <a:cs typeface="Segoe UI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5EAEBB-3F49-4134-8CDB-D313AB3FEFC6}"/>
              </a:ext>
            </a:extLst>
          </p:cNvPr>
          <p:cNvGrpSpPr/>
          <p:nvPr/>
        </p:nvGrpSpPr>
        <p:grpSpPr>
          <a:xfrm>
            <a:off x="469966" y="1709418"/>
            <a:ext cx="558179" cy="409838"/>
            <a:chOff x="6953426" y="711274"/>
            <a:chExt cx="558179" cy="40983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A6F2A9F-B199-404A-8C9F-8F78B14691C8}"/>
                </a:ext>
              </a:extLst>
            </p:cNvPr>
            <p:cNvSpPr/>
            <p:nvPr/>
          </p:nvSpPr>
          <p:spPr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5DADDB7-1CE5-47D8-BB5A-BCE7D60FFCBB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For future exploration we would like to see correlation between IMDb ratings and Box office revenues</a:t>
            </a:r>
          </a:p>
        </p:txBody>
      </p:sp>
    </p:spTree>
    <p:extLst>
      <p:ext uri="{BB962C8B-B14F-4D97-AF65-F5344CB8AC3E}">
        <p14:creationId xmlns:p14="http://schemas.microsoft.com/office/powerpoint/2010/main" val="409301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16711" y="1539506"/>
            <a:ext cx="9108552" cy="641350"/>
          </a:xfrm>
        </p:spPr>
        <p:txBody>
          <a:bodyPr/>
          <a:lstStyle/>
          <a:p>
            <a:r>
              <a:rPr lang="en-US" dirty="0"/>
              <a:t>More questions about our Dashboard?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41611" y="2778542"/>
            <a:ext cx="9796189" cy="3304757"/>
          </a:xfrm>
        </p:spPr>
        <p:txBody>
          <a:bodyPr>
            <a:norm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n-US" sz="2000" dirty="0"/>
              <a:t>We are glad to answer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elcome to PowerPoi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.potx" id="{5D416C3A-095D-4A96-8A91-7D2C72C2AD14}" vid="{D2A5232E-050B-4CE1-9FD8-5AD02F3B95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237</TotalTime>
  <Words>332</Words>
  <Application>Microsoft Office PowerPoint</Application>
  <PresentationFormat>Widescreen</PresentationFormat>
  <Paragraphs>49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Welcome to PowerPoint</vt:lpstr>
      <vt:lpstr>Welcome to Stars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PowerPoint</dc:title>
  <dc:creator>Owner</dc:creator>
  <cp:lastModifiedBy>Owner</cp:lastModifiedBy>
  <cp:revision>39</cp:revision>
  <dcterms:created xsi:type="dcterms:W3CDTF">2019-06-19T23:01:05Z</dcterms:created>
  <dcterms:modified xsi:type="dcterms:W3CDTF">2019-06-22T16:02:07Z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TM10001108</vt:lpwstr>
  </property>
</Properties>
</file>