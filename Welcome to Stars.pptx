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77" r:id="rId3"/>
    <p:sldId id="278" r:id="rId4"/>
    <p:sldId id="280" r:id="rId5"/>
    <p:sldId id="271" r:id="rId6"/>
    <p:sldId id="276" r:id="rId7"/>
    <p:sldId id="279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277"/>
            <p14:sldId id="278"/>
            <p14:sldId id="280"/>
          </p14:sldIdLst>
        </p14:section>
        <p14:section name="Design, Annotate, Work Together, Tell Me" id="{B9B51309-D148-4332-87C2-07BE32FBCA3B}">
          <p14:sldIdLst>
            <p14:sldId id="271"/>
            <p14:sldId id="276"/>
            <p14:sldId id="279"/>
          </p14:sldIdLst>
        </p14:section>
        <p14:section name="Learn More" id="{2CC34DB2-6590-42C0-AD4B-A04C6060184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 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FF9B45"/>
    <a:srgbClr val="DD462F"/>
    <a:srgbClr val="F8CFB6"/>
    <a:srgbClr val="F8CAB6"/>
    <a:srgbClr val="923922"/>
    <a:srgbClr val="404040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8" autoAdjust="0"/>
    <p:restoredTop sz="97116" autoAdjust="0"/>
  </p:normalViewPr>
  <p:slideViewPr>
    <p:cSldViewPr snapToGrid="0">
      <p:cViewPr varScale="1">
        <p:scale>
          <a:sx n="73" d="100"/>
          <a:sy n="73" d="100"/>
        </p:scale>
        <p:origin x="246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baseline="0" dirty="0"/>
              <a:t>Slide Show mode, click the arrows to visit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196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6711" y="443128"/>
            <a:ext cx="4438526" cy="641350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41611" y="1431010"/>
            <a:ext cx="4413626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Lorem ipsum 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6711" y="443128"/>
            <a:ext cx="4438526" cy="641350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"/>
          </p:nvPr>
        </p:nvSpPr>
        <p:spPr>
          <a:xfrm>
            <a:off x="6942411" y="1828845"/>
            <a:ext cx="4413626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45860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604434" y="1061482"/>
            <a:ext cx="4350803" cy="0"/>
          </a:xfrm>
          <a:prstGeom prst="line">
            <a:avLst/>
          </a:prstGeom>
          <a:ln w="28575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6711" y="1539506"/>
            <a:ext cx="6267148" cy="641350"/>
          </a:xfrm>
        </p:spPr>
        <p:txBody>
          <a:bodyPr anchor="b">
            <a:normAutofit/>
          </a:bodyPr>
          <a:lstStyle>
            <a:lvl1pPr marL="0" indent="0">
              <a:buNone/>
              <a:defRPr sz="36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41611" y="2560639"/>
            <a:ext cx="9442648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Lorem ipsum 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3" r:id="rId4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838200" y="1164324"/>
            <a:ext cx="10515600" cy="2387600"/>
          </a:xfrm>
        </p:spPr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</a:rPr>
              <a:t>Welcome to Stars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  <a:latin typeface="+mj-lt"/>
              </a:rPr>
              <a:t>Top most popular actors and credits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out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541611" y="1578279"/>
            <a:ext cx="6360230" cy="4346532"/>
          </a:xfrm>
        </p:spPr>
        <p:txBody>
          <a:bodyPr>
            <a:normAutofit/>
          </a:bodyPr>
          <a:lstStyle/>
          <a:p>
            <a:r>
              <a:rPr lang="en-US" sz="1800" dirty="0"/>
              <a:t>Most popular actors and movies scraped from IMDB site.</a:t>
            </a:r>
          </a:p>
          <a:p>
            <a:r>
              <a:rPr lang="en-US" sz="1800" dirty="0"/>
              <a:t>Actors - https://www.imdb.com/list/ls022928819/</a:t>
            </a:r>
          </a:p>
          <a:p>
            <a:r>
              <a:rPr lang="en-US" sz="1800" dirty="0"/>
              <a:t>Actresses - https://www.imdb.com/list/ls022928836/</a:t>
            </a:r>
          </a:p>
          <a:p>
            <a:r>
              <a:rPr lang="en-US" sz="1800" dirty="0"/>
              <a:t>Scraped using OMDb API - http://www.omdbapi.com/</a:t>
            </a:r>
          </a:p>
          <a:p>
            <a:r>
              <a:rPr lang="en-US" sz="1800" dirty="0"/>
              <a:t>Data saved to CSV files</a:t>
            </a:r>
          </a:p>
          <a:p>
            <a:r>
              <a:rPr lang="en-US" sz="1800" dirty="0"/>
              <a:t>Data include actor information, actor credits, movie ratings, box office revenue, and genre</a:t>
            </a:r>
          </a:p>
          <a:p>
            <a:r>
              <a:rPr lang="en-US" sz="1800" dirty="0"/>
              <a:t>Actor and Actresses data were combined</a:t>
            </a:r>
          </a:p>
          <a:p>
            <a:r>
              <a:rPr lang="en-US" sz="1800" dirty="0"/>
              <a:t>Data loaded into SQLLite in Actor and Movies entities</a:t>
            </a:r>
          </a:p>
        </p:txBody>
      </p:sp>
    </p:spTree>
    <p:extLst>
      <p:ext uri="{BB962C8B-B14F-4D97-AF65-F5344CB8AC3E}">
        <p14:creationId xmlns:p14="http://schemas.microsoft.com/office/powerpoint/2010/main" val="186129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591714" y="1531218"/>
            <a:ext cx="7725568" cy="4443697"/>
          </a:xfrm>
        </p:spPr>
        <p:txBody>
          <a:bodyPr>
            <a:normAutofit/>
          </a:bodyPr>
          <a:lstStyle/>
          <a:p>
            <a:pPr fontAlgn="base"/>
            <a:r>
              <a:rPr lang="en-US" sz="1800" dirty="0"/>
              <a:t>Who are the top 10 popular actors?</a:t>
            </a:r>
          </a:p>
          <a:p>
            <a:pPr fontAlgn="base"/>
            <a:r>
              <a:rPr lang="en-US" sz="1800" dirty="0"/>
              <a:t>Who are the top 10 popular actresses?</a:t>
            </a:r>
          </a:p>
          <a:p>
            <a:pPr fontAlgn="base"/>
            <a:r>
              <a:rPr lang="en-US" sz="1800" dirty="0"/>
              <a:t>What are the top 10 movies at the box office?</a:t>
            </a:r>
          </a:p>
          <a:p>
            <a:pPr fontAlgn="base"/>
            <a:r>
              <a:rPr lang="en-US" sz="1800" dirty="0"/>
              <a:t>How many movies are made in the US?</a:t>
            </a:r>
          </a:p>
          <a:p>
            <a:pPr fontAlgn="base"/>
            <a:r>
              <a:rPr lang="en-US" sz="1800" dirty="0"/>
              <a:t>How do US movies compare with foreign films in revenue?</a:t>
            </a:r>
          </a:p>
          <a:p>
            <a:pPr fontAlgn="base"/>
            <a:r>
              <a:rPr lang="en-US" sz="1800" dirty="0"/>
              <a:t>Is there a correlation between IMDB Ratings and Box office revenues?</a:t>
            </a:r>
          </a:p>
          <a:p>
            <a:pPr fontAlgn="base"/>
            <a:r>
              <a:rPr lang="en-US" sz="1800" dirty="0"/>
              <a:t>Do IMDB Ratings translate to higher revenues?</a:t>
            </a:r>
            <a:br>
              <a:rPr lang="en-US" sz="1800" dirty="0"/>
            </a:b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9853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591714" y="1531218"/>
            <a:ext cx="7725568" cy="4443697"/>
          </a:xfrm>
        </p:spPr>
        <p:txBody>
          <a:bodyPr>
            <a:normAutofit/>
          </a:bodyPr>
          <a:lstStyle/>
          <a:p>
            <a:pPr fontAlgn="base"/>
            <a:r>
              <a:rPr lang="en-US" sz="1800" dirty="0"/>
              <a:t>15,358 titles found between the year 1937 to 2022.</a:t>
            </a:r>
          </a:p>
          <a:p>
            <a:pPr fontAlgn="base"/>
            <a:r>
              <a:rPr lang="en-US" sz="1800" dirty="0"/>
              <a:t>Titles include project announcements</a:t>
            </a:r>
          </a:p>
          <a:p>
            <a:pPr fontAlgn="base"/>
            <a:r>
              <a:rPr lang="en-US" sz="1800" dirty="0"/>
              <a:t>Titles were of type episode, game, series, and movie.</a:t>
            </a:r>
          </a:p>
          <a:p>
            <a:pPr fontAlgn="base"/>
            <a:r>
              <a:rPr lang="en-US" sz="1800" dirty="0"/>
              <a:t>Among all titles, 12,259 were of movie type.</a:t>
            </a:r>
          </a:p>
          <a:p>
            <a:pPr fontAlgn="base"/>
            <a:r>
              <a:rPr lang="en-US" sz="1800" dirty="0"/>
              <a:t>9889 movies were made in the US.</a:t>
            </a:r>
          </a:p>
          <a:p>
            <a:pPr fontAlgn="base"/>
            <a:r>
              <a:rPr lang="en-US" sz="1800" dirty="0"/>
              <a:t>200 actors in the dataset</a:t>
            </a:r>
          </a:p>
          <a:p>
            <a:pPr fontAlgn="base"/>
            <a:r>
              <a:rPr lang="en-US" sz="1800" dirty="0"/>
              <a:t>Actors took 24 different types of credits</a:t>
            </a:r>
          </a:p>
          <a:p>
            <a:pPr fontAlgn="base"/>
            <a:endParaRPr lang="en-US" sz="1800" dirty="0"/>
          </a:p>
          <a:p>
            <a:pPr fontAlgn="base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52672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Check out our dashboard</a:t>
            </a:r>
          </a:p>
        </p:txBody>
      </p:sp>
      <p:sp>
        <p:nvSpPr>
          <p:cNvPr id="18" name="Content Placeholder 1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spcAft>
                <a:spcPts val="2000"/>
              </a:spcAft>
              <a:buNone/>
            </a:pPr>
            <a:endParaRPr lang="en-US" dirty="0"/>
          </a:p>
          <a:p>
            <a:pPr marL="0" indent="0" algn="ctr">
              <a:spcAft>
                <a:spcPts val="2000"/>
              </a:spcAft>
              <a:buNone/>
            </a:pPr>
            <a:endParaRPr lang="en-US" dirty="0"/>
          </a:p>
          <a:p>
            <a:pPr marL="0" indent="0" algn="ctr">
              <a:spcAft>
                <a:spcPts val="2000"/>
              </a:spcAft>
              <a:buNone/>
            </a:pPr>
            <a:endParaRPr lang="en-US" dirty="0"/>
          </a:p>
          <a:p>
            <a:pPr marL="0" indent="0" algn="ctr">
              <a:spcAft>
                <a:spcPts val="2000"/>
              </a:spcAft>
              <a:buNone/>
            </a:pPr>
            <a:r>
              <a:rPr lang="en-US" dirty="0"/>
              <a:t>CHART WILL GO HERE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58723" y="2469763"/>
            <a:ext cx="558179" cy="409838"/>
            <a:chOff x="6953426" y="711274"/>
            <a:chExt cx="558179" cy="409838"/>
          </a:xfrm>
        </p:grpSpPr>
        <p:sp>
          <p:nvSpPr>
            <p:cNvPr id="2" name="Oval 1"/>
            <p:cNvSpPr/>
            <p:nvPr/>
          </p:nvSpPr>
          <p:spPr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/>
            <p:cNvSpPr txBox="1">
              <a:spLocks noChangeAspect="1"/>
            </p:cNvSpPr>
            <p:nvPr/>
          </p:nvSpPr>
          <p:spPr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</a:t>
              </a:r>
            </a:p>
          </p:txBody>
        </p:sp>
      </p:grpSp>
      <p:sp>
        <p:nvSpPr>
          <p:cNvPr id="29" name="Content Placeholder 17"/>
          <p:cNvSpPr txBox="1">
            <a:spLocks/>
          </p:cNvSpPr>
          <p:nvPr/>
        </p:nvSpPr>
        <p:spPr>
          <a:xfrm>
            <a:off x="1066039" y="2509955"/>
            <a:ext cx="3121671" cy="913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Choose an </a:t>
            </a:r>
            <a:r>
              <a:rPr lang="en-US" sz="1800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Actor </a:t>
            </a: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from the </a:t>
            </a:r>
            <a:r>
              <a:rPr lang="en-US" sz="1800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Dropdown</a:t>
            </a:r>
            <a:r>
              <a:rPr lang="en-US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.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558723" y="3286350"/>
            <a:ext cx="558179" cy="409838"/>
            <a:chOff x="6953426" y="711274"/>
            <a:chExt cx="558179" cy="409838"/>
          </a:xfrm>
        </p:grpSpPr>
        <p:sp>
          <p:nvSpPr>
            <p:cNvPr id="20" name="Oval 19"/>
            <p:cNvSpPr/>
            <p:nvPr/>
          </p:nvSpPr>
          <p:spPr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TextBox 20"/>
            <p:cNvSpPr txBox="1">
              <a:spLocks noChangeAspect="1"/>
            </p:cNvSpPr>
            <p:nvPr/>
          </p:nvSpPr>
          <p:spPr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</a:p>
          </p:txBody>
        </p:sp>
      </p:grpSp>
      <p:sp>
        <p:nvSpPr>
          <p:cNvPr id="22" name="Content Placeholder 17"/>
          <p:cNvSpPr txBox="1">
            <a:spLocks/>
          </p:cNvSpPr>
          <p:nvPr/>
        </p:nvSpPr>
        <p:spPr>
          <a:xfrm>
            <a:off x="1066039" y="3326542"/>
            <a:ext cx="2841818" cy="913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Total Credits, Box Office Revenue, Average IMDb Score is displayed</a:t>
            </a:r>
          </a:p>
        </p:txBody>
      </p:sp>
      <p:sp>
        <p:nvSpPr>
          <p:cNvPr id="38" name="Content Placeholder 17"/>
          <p:cNvSpPr txBox="1">
            <a:spLocks/>
          </p:cNvSpPr>
          <p:nvPr/>
        </p:nvSpPr>
        <p:spPr>
          <a:xfrm>
            <a:off x="541609" y="1296100"/>
            <a:ext cx="5110161" cy="1236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96139-4886-4B33-AB65-0EFAFDE89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413" y="1397726"/>
            <a:ext cx="5838221" cy="26386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1BD4E5-8A4D-4001-909F-CC4ABFB79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413" y="4036423"/>
            <a:ext cx="5838221" cy="2638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16710" y="443128"/>
            <a:ext cx="6118005" cy="641350"/>
          </a:xfrm>
        </p:spPr>
        <p:txBody>
          <a:bodyPr>
            <a:normAutofit/>
          </a:bodyPr>
          <a:lstStyle/>
          <a:p>
            <a:r>
              <a:rPr lang="en-US" dirty="0"/>
              <a:t>Explore credit details</a:t>
            </a:r>
          </a:p>
        </p:txBody>
      </p:sp>
      <p:sp>
        <p:nvSpPr>
          <p:cNvPr id="16" name="Content Placeholder 17"/>
          <p:cNvSpPr txBox="1">
            <a:spLocks/>
          </p:cNvSpPr>
          <p:nvPr/>
        </p:nvSpPr>
        <p:spPr>
          <a:xfrm>
            <a:off x="541609" y="1296100"/>
            <a:ext cx="6093106" cy="1236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38D5C8-2982-4C40-835F-A21D02C36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664" y="1616994"/>
            <a:ext cx="7346727" cy="4667250"/>
          </a:xfrm>
          <a:prstGeom prst="rect">
            <a:avLst/>
          </a:prstGeom>
        </p:spPr>
      </p:pic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E6C8CCB3-EE25-4107-9088-1BFF7490ABC3}"/>
              </a:ext>
            </a:extLst>
          </p:cNvPr>
          <p:cNvSpPr txBox="1">
            <a:spLocks/>
          </p:cNvSpPr>
          <p:nvPr/>
        </p:nvSpPr>
        <p:spPr>
          <a:xfrm>
            <a:off x="1028145" y="1747622"/>
            <a:ext cx="2806868" cy="913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Hover over to display credit details in the chart</a:t>
            </a:r>
            <a:endParaRPr lang="en-US" dirty="0">
              <a:solidFill>
                <a:prstClr val="black">
                  <a:lumMod val="75000"/>
                  <a:lumOff val="25000"/>
                </a:prstClr>
              </a:solidFill>
              <a:cs typeface="Segoe UI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E5EAEBB-3F49-4134-8CDB-D313AB3FEFC6}"/>
              </a:ext>
            </a:extLst>
          </p:cNvPr>
          <p:cNvGrpSpPr/>
          <p:nvPr/>
        </p:nvGrpSpPr>
        <p:grpSpPr>
          <a:xfrm>
            <a:off x="469966" y="1709418"/>
            <a:ext cx="558179" cy="409838"/>
            <a:chOff x="6953426" y="711274"/>
            <a:chExt cx="558179" cy="409838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A6F2A9F-B199-404A-8C9F-8F78B14691C8}"/>
                </a:ext>
              </a:extLst>
            </p:cNvPr>
            <p:cNvSpPr/>
            <p:nvPr/>
          </p:nvSpPr>
          <p:spPr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5DADDB7-1CE5-47D8-BB5A-BCE7D60FFCBB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932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For future exploration we would to see correlation between IMDb ratings and Box office revenues</a:t>
            </a:r>
          </a:p>
        </p:txBody>
      </p:sp>
    </p:spTree>
    <p:extLst>
      <p:ext uri="{BB962C8B-B14F-4D97-AF65-F5344CB8AC3E}">
        <p14:creationId xmlns:p14="http://schemas.microsoft.com/office/powerpoint/2010/main" val="4093015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516711" y="1539506"/>
            <a:ext cx="9108552" cy="641350"/>
          </a:xfrm>
        </p:spPr>
        <p:txBody>
          <a:bodyPr/>
          <a:lstStyle/>
          <a:p>
            <a:r>
              <a:rPr lang="en-US" dirty="0"/>
              <a:t>More questions about our Dashboard?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541611" y="2778542"/>
            <a:ext cx="9796189" cy="3304757"/>
          </a:xfrm>
        </p:spPr>
        <p:txBody>
          <a:bodyPr>
            <a:normAutofit/>
          </a:bodyPr>
          <a:lstStyle/>
          <a:p>
            <a:pPr marL="0" indent="0">
              <a:lnSpc>
                <a:spcPts val="3600"/>
              </a:lnSpc>
              <a:buNone/>
            </a:pPr>
            <a:r>
              <a:rPr lang="en-US" sz="2000" dirty="0"/>
              <a:t>We are glad to answer</a:t>
            </a:r>
          </a:p>
        </p:txBody>
      </p:sp>
    </p:spTree>
    <p:extLst>
      <p:ext uri="{BB962C8B-B14F-4D97-AF65-F5344CB8AC3E}">
        <p14:creationId xmlns:p14="http://schemas.microsoft.com/office/powerpoint/2010/main" val="2317502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elcome to PowerPoi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.potx" id="{5D416C3A-095D-4A96-8A91-7D2C72C2AD14}" vid="{D2A5232E-050B-4CE1-9FD8-5AD02F3B953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</Template>
  <TotalTime>216</TotalTime>
  <Words>314</Words>
  <Application>Microsoft Office PowerPoint</Application>
  <PresentationFormat>Widescreen</PresentationFormat>
  <Paragraphs>46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Segoe UI</vt:lpstr>
      <vt:lpstr>Segoe UI Light</vt:lpstr>
      <vt:lpstr>Segoe UI Semibold</vt:lpstr>
      <vt:lpstr>Welcome to PowerPoint</vt:lpstr>
      <vt:lpstr>Welcome to Stars Dashboard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Hewlett-Packard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PowerPoint</dc:title>
  <dc:creator>Owner</dc:creator>
  <cp:lastModifiedBy>Owner</cp:lastModifiedBy>
  <cp:revision>34</cp:revision>
  <dcterms:created xsi:type="dcterms:W3CDTF">2019-06-19T23:01:05Z</dcterms:created>
  <dcterms:modified xsi:type="dcterms:W3CDTF">2019-06-22T14:57:41Z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TM10001108</vt:lpwstr>
  </property>
</Properties>
</file>